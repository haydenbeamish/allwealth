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96" y="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den Beamish" userId="ff99a5bd-eaa0-4613-bfc4-6592c1465e2a" providerId="ADAL" clId="{6CA77B80-88C9-43A7-BC22-8AD5F565CBE5}"/>
    <pc:docChg chg="custSel modSld">
      <pc:chgData name="Hayden Beamish" userId="ff99a5bd-eaa0-4613-bfc4-6592c1465e2a" providerId="ADAL" clId="{6CA77B80-88C9-43A7-BC22-8AD5F565CBE5}" dt="2026-02-27T04:09:21.647" v="253" actId="20577"/>
      <pc:docMkLst>
        <pc:docMk/>
      </pc:docMkLst>
      <pc:sldChg chg="addSp delSp modSp mod">
        <pc:chgData name="Hayden Beamish" userId="ff99a5bd-eaa0-4613-bfc4-6592c1465e2a" providerId="ADAL" clId="{6CA77B80-88C9-43A7-BC22-8AD5F565CBE5}" dt="2026-02-27T04:09:08.131" v="251" actId="1076"/>
        <pc:sldMkLst>
          <pc:docMk/>
          <pc:sldMk cId="0" sldId="256"/>
        </pc:sldMkLst>
        <pc:spChg chg="del mod">
          <ac:chgData name="Hayden Beamish" userId="ff99a5bd-eaa0-4613-bfc4-6592c1465e2a" providerId="ADAL" clId="{6CA77B80-88C9-43A7-BC22-8AD5F565CBE5}" dt="2026-02-27T04:09:02.519" v="250" actId="478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Hayden Beamish" userId="ff99a5bd-eaa0-4613-bfc4-6592c1465e2a" providerId="ADAL" clId="{6CA77B80-88C9-43A7-BC22-8AD5F565CBE5}" dt="2026-02-27T04:09:08.131" v="251" actId="1076"/>
          <ac:picMkLst>
            <pc:docMk/>
            <pc:sldMk cId="0" sldId="256"/>
            <ac:picMk id="11" creationId="{BAC60BD1-71FB-284D-0106-09250AC9B186}"/>
          </ac:picMkLst>
        </pc:picChg>
      </pc:sldChg>
      <pc:sldChg chg="modSp mod">
        <pc:chgData name="Hayden Beamish" userId="ff99a5bd-eaa0-4613-bfc4-6592c1465e2a" providerId="ADAL" clId="{6CA77B80-88C9-43A7-BC22-8AD5F565CBE5}" dt="2026-02-27T04:09:13.955" v="252" actId="20577"/>
        <pc:sldMkLst>
          <pc:docMk/>
          <pc:sldMk cId="0" sldId="259"/>
        </pc:sldMkLst>
        <pc:spChg chg="mod">
          <ac:chgData name="Hayden Beamish" userId="ff99a5bd-eaa0-4613-bfc4-6592c1465e2a" providerId="ADAL" clId="{6CA77B80-88C9-43A7-BC22-8AD5F565CBE5}" dt="2026-02-27T04:09:13.955" v="252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Hayden Beamish" userId="ff99a5bd-eaa0-4613-bfc4-6592c1465e2a" providerId="ADAL" clId="{6CA77B80-88C9-43A7-BC22-8AD5F565CBE5}" dt="2026-02-27T04:09:21.647" v="253" actId="20577"/>
        <pc:sldMkLst>
          <pc:docMk/>
          <pc:sldMk cId="0" sldId="260"/>
        </pc:sldMkLst>
        <pc:spChg chg="mod">
          <ac:chgData name="Hayden Beamish" userId="ff99a5bd-eaa0-4613-bfc4-6592c1465e2a" providerId="ADAL" clId="{6CA77B80-88C9-43A7-BC22-8AD5F565CBE5}" dt="2026-02-27T03:32:23.406" v="232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Hayden Beamish" userId="ff99a5bd-eaa0-4613-bfc4-6592c1465e2a" providerId="ADAL" clId="{6CA77B80-88C9-43A7-BC22-8AD5F565CBE5}" dt="2026-02-27T04:09:21.647" v="253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Hayden Beamish" userId="ff99a5bd-eaa0-4613-bfc4-6592c1465e2a" providerId="ADAL" clId="{6CA77B80-88C9-43A7-BC22-8AD5F565CBE5}" dt="2026-02-27T03:32:03.390" v="226" actId="20577"/>
        <pc:sldMkLst>
          <pc:docMk/>
          <pc:sldMk cId="0" sldId="263"/>
        </pc:sldMkLst>
        <pc:spChg chg="mod">
          <ac:chgData name="Hayden Beamish" userId="ff99a5bd-eaa0-4613-bfc4-6592c1465e2a" providerId="ADAL" clId="{6CA77B80-88C9-43A7-BC22-8AD5F565CBE5}" dt="2026-02-27T03:32:03.390" v="226" actId="20577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1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Returns. Software. Distribution.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self-funding holding company that generates deal returns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reinvests into disruptive software products.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82880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AllWealth — the all-in-one wealth management platform.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FEBRUARY 2026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C60BD1-71FB-284D-0106-09250AC9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5"/>
            <a:ext cx="4503810" cy="18365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Self-funding flywheel. Invest in deals. Build software. Sell into the network.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3108960" cy="137160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 RETURNS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Pre-IPO, small caps,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minerals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108960" cy="1371600"/>
          </a:xfrm>
          <a:prstGeom prst="rect">
            <a:avLst/>
          </a:prstGeom>
          <a:solidFill>
            <a:srgbClr val="EFF6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 SOFTWARE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profits into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AllWealth development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3017520"/>
            <a:ext cx="3108960" cy="1371600"/>
          </a:xfrm>
          <a:prstGeom prst="rect">
            <a:avLst/>
          </a:prstGeom>
          <a:solidFill>
            <a:srgbClr val="F5F3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2004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TO NETWORK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FFAU advisors,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Endeavor clients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management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distribution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097280" y="3017520"/>
            <a:ext cx="3108960" cy="1371600"/>
          </a:xfrm>
          <a:prstGeom prst="rect">
            <a:avLst/>
          </a:prstGeom>
          <a:solidFill>
            <a:srgbClr val="FFFBE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2004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RECURRING REVENUE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28016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ARR at 10x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valuations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16916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▼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2519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◀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▲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deals (returns) AND own equity in AllWealth (valuation upside).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RECENT INVESTMENTS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you've invested in alongside me. Real returns, real capital.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+500%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85800" y="1810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105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+112%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85800" y="25237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Horse Gold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5237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+105%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822960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85800" y="32369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Minerals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23697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+80%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8229600" cy="594360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54864" cy="5943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85800" y="39502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Critical Minerals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39502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HoldCo is the vehicle for these deals. Returns fund software development. Self-funding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WEALTH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wealth management platform. One product. Two user types. Massive TAM.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ADVISORS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30352" y="1609344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4592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15636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17465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global data: sectors, thematics, commodities, forex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530352" y="2066544"/>
            <a:ext cx="256032" cy="256032"/>
          </a:xfrm>
          <a:prstGeom prst="ellipse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03120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20208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68680" y="22037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deep dives, BUY/HOLD/SELL, key metrics, growth catalysts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24688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5"/>
          <p:cNvSpPr/>
          <p:nvPr/>
        </p:nvSpPr>
        <p:spPr>
          <a:xfrm>
            <a:off x="530352" y="2523744"/>
            <a:ext cx="256032" cy="256032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60320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24780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Portfolio Overview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68680" y="26609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 across all client accounts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57200" y="29260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19"/>
          <p:cNvSpPr/>
          <p:nvPr/>
        </p:nvSpPr>
        <p:spPr>
          <a:xfrm>
            <a:off x="530352" y="2980944"/>
            <a:ext cx="256032" cy="256032"/>
          </a:xfrm>
          <a:prstGeom prst="ellipse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017520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2935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Wraps &amp; Email Summaries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68680" y="31181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wraps advisors forward to clients instantly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57200" y="33832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3"/>
          <p:cNvSpPr/>
          <p:nvPr/>
        </p:nvSpPr>
        <p:spPr>
          <a:xfrm>
            <a:off x="530352" y="3438144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474720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68680" y="33924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Financial Plans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868680" y="3575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plans advisors customise and present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57200" y="38404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27"/>
          <p:cNvSpPr/>
          <p:nvPr/>
        </p:nvSpPr>
        <p:spPr>
          <a:xfrm>
            <a:off x="530352" y="3895344"/>
            <a:ext cx="256032" cy="256032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931920"/>
            <a:ext cx="164592" cy="1645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68680" y="38496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Bro AI Agent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868680" y="40325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CFA-grade Q&amp;A for any client query in seconds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1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CLIENTS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754880" y="15544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1" name="Shape 33"/>
          <p:cNvSpPr/>
          <p:nvPr/>
        </p:nvSpPr>
        <p:spPr>
          <a:xfrm>
            <a:off x="4828032" y="1609344"/>
            <a:ext cx="256032" cy="256032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1645920"/>
            <a:ext cx="164592" cy="16459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166360" y="15636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Wealth Dashboard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5166360" y="17465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consolidated view: listed, private, property, cash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4754880" y="20116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6" name="Shape 37"/>
          <p:cNvSpPr/>
          <p:nvPr/>
        </p:nvSpPr>
        <p:spPr>
          <a:xfrm>
            <a:off x="4828032" y="2066544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2103120"/>
            <a:ext cx="164592" cy="16459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166360" y="20208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Bank Feeds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5166360" y="22037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bank balances, transaction history, expense breakdown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4754880" y="24688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1" name="Shape 41"/>
          <p:cNvSpPr/>
          <p:nvPr/>
        </p:nvSpPr>
        <p:spPr>
          <a:xfrm>
            <a:off x="4828032" y="2523744"/>
            <a:ext cx="256032" cy="256032"/>
          </a:xfrm>
          <a:prstGeom prst="ellipse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560320"/>
            <a:ext cx="164592" cy="16459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166360" y="24780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&amp; Expenses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5166360" y="26609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tracking with categorised expense breakdown</a:t>
            </a:r>
            <a:endParaRPr lang="en-US" sz="800" dirty="0"/>
          </a:p>
        </p:txBody>
      </p:sp>
      <p:sp>
        <p:nvSpPr>
          <p:cNvPr id="55" name="Shape 44"/>
          <p:cNvSpPr/>
          <p:nvPr/>
        </p:nvSpPr>
        <p:spPr>
          <a:xfrm>
            <a:off x="4754880" y="29260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Shape 45"/>
          <p:cNvSpPr/>
          <p:nvPr/>
        </p:nvSpPr>
        <p:spPr>
          <a:xfrm>
            <a:off x="4828032" y="2980944"/>
            <a:ext cx="256032" cy="256032"/>
          </a:xfrm>
          <a:prstGeom prst="ellipse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4608" y="3017520"/>
            <a:ext cx="164592" cy="164592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5166360" y="2935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Reporting</a:t>
            </a:r>
            <a:endParaRPr lang="en-US" sz="950" dirty="0"/>
          </a:p>
        </p:txBody>
      </p:sp>
      <p:sp>
        <p:nvSpPr>
          <p:cNvPr id="59" name="Text 47"/>
          <p:cNvSpPr/>
          <p:nvPr/>
        </p:nvSpPr>
        <p:spPr>
          <a:xfrm>
            <a:off x="5166360" y="31181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reports. Client-ready exports. Full transparency</a:t>
            </a:r>
            <a:endParaRPr lang="en-US" sz="800" dirty="0"/>
          </a:p>
        </p:txBody>
      </p:sp>
      <p:sp>
        <p:nvSpPr>
          <p:cNvPr id="60" name="Shape 48"/>
          <p:cNvSpPr/>
          <p:nvPr/>
        </p:nvSpPr>
        <p:spPr>
          <a:xfrm>
            <a:off x="4754880" y="33832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1" name="Shape 49"/>
          <p:cNvSpPr/>
          <p:nvPr/>
        </p:nvSpPr>
        <p:spPr>
          <a:xfrm>
            <a:off x="4828032" y="3438144"/>
            <a:ext cx="256032" cy="256032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4608" y="3474720"/>
            <a:ext cx="164592" cy="164592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166360" y="33924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Estimates</a:t>
            </a:r>
            <a:endParaRPr lang="en-US" sz="950" dirty="0"/>
          </a:p>
        </p:txBody>
      </p:sp>
      <p:sp>
        <p:nvSpPr>
          <p:cNvPr id="64" name="Text 51"/>
          <p:cNvSpPr/>
          <p:nvPr/>
        </p:nvSpPr>
        <p:spPr>
          <a:xfrm>
            <a:off x="5166360" y="3575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estimated tax position and optimisation</a:t>
            </a:r>
            <a:endParaRPr lang="en-US" sz="800" dirty="0"/>
          </a:p>
        </p:txBody>
      </p:sp>
      <p:sp>
        <p:nvSpPr>
          <p:cNvPr id="65" name="Shape 52"/>
          <p:cNvSpPr/>
          <p:nvPr/>
        </p:nvSpPr>
        <p:spPr>
          <a:xfrm>
            <a:off x="4754880" y="3840480"/>
            <a:ext cx="3931920" cy="384048"/>
          </a:xfrm>
          <a:prstGeom prst="rect">
            <a:avLst/>
          </a:prstGeom>
          <a:solidFill>
            <a:srgbClr val="F8FAF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6" name="Shape 53"/>
          <p:cNvSpPr/>
          <p:nvPr/>
        </p:nvSpPr>
        <p:spPr>
          <a:xfrm>
            <a:off x="4828032" y="3895344"/>
            <a:ext cx="256032" cy="25603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4608" y="3931920"/>
            <a:ext cx="164592" cy="164592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5166360" y="38496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Holdings Input</a:t>
            </a:r>
            <a:endParaRPr lang="en-US" sz="950" dirty="0"/>
          </a:p>
        </p:txBody>
      </p:sp>
      <p:sp>
        <p:nvSpPr>
          <p:cNvPr id="69" name="Text 55"/>
          <p:cNvSpPr/>
          <p:nvPr/>
        </p:nvSpPr>
        <p:spPr>
          <a:xfrm>
            <a:off x="5166360" y="40325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Property, PE, collectibles tracked alongside listed assets</a:t>
            </a:r>
            <a:endParaRPr lang="en-US" sz="800" dirty="0"/>
          </a:p>
        </p:txBody>
      </p:sp>
      <p:sp>
        <p:nvSpPr>
          <p:cNvPr id="70" name="Shape 56"/>
          <p:cNvSpPr/>
          <p:nvPr/>
        </p:nvSpPr>
        <p:spPr>
          <a:xfrm>
            <a:off x="457200" y="4389120"/>
            <a:ext cx="3931920" cy="594360"/>
          </a:xfrm>
          <a:prstGeom prst="rect">
            <a:avLst/>
          </a:prstGeom>
          <a:solidFill>
            <a:srgbClr val="FEF2F2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1" name="Text 57"/>
          <p:cNvSpPr/>
          <p:nvPr/>
        </p:nvSpPr>
        <p:spPr>
          <a:xfrm>
            <a:off x="457200" y="4389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Addepar: $80,000 USD p.a.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$40,000 USD setup. Enterprise only.</a:t>
            </a:r>
            <a:endParaRPr lang="en-US" sz="1100" dirty="0"/>
          </a:p>
        </p:txBody>
      </p:sp>
      <p:sp>
        <p:nvSpPr>
          <p:cNvPr id="72" name="Shape 58"/>
          <p:cNvSpPr/>
          <p:nvPr/>
        </p:nvSpPr>
        <p:spPr>
          <a:xfrm>
            <a:off x="4754880" y="4389120"/>
            <a:ext cx="3931920" cy="59436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3" name="Text 59"/>
          <p:cNvSpPr/>
          <p:nvPr/>
        </p:nvSpPr>
        <p:spPr>
          <a:xfrm>
            <a:off x="4754880" y="4389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AllWealth: From $10/mo per advisor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HNW tier: $20K AUD setup + $20K AUD p.a.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ALLWEALTH: TOOLS ALREADY BUILT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live. Core platform ready to deploy to advisors and clients.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46888" y="79552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2743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Thematics &amp; Market Data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172968" y="79552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822960"/>
            <a:ext cx="2743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099048" y="79552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822960"/>
            <a:ext cx="2743200" cy="1828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2670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Watchlist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246888" y="294436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4320" y="2971800"/>
            <a:ext cx="2743200" cy="1828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4320" y="4818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 Summaries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3172968" y="294436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00400" y="2971800"/>
            <a:ext cx="2743200" cy="1828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00400" y="4818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Summary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6099048" y="2944368"/>
            <a:ext cx="2798064" cy="1883664"/>
          </a:xfrm>
          <a:prstGeom prst="rect">
            <a:avLst/>
          </a:prstGeom>
          <a:solidFill>
            <a:srgbClr val="2D3748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26480" y="2971800"/>
            <a:ext cx="2743200" cy="1828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26480" y="4818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distribution. Massive switching costs. Multiple revenue streams.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291840"/>
          </a:xfrm>
          <a:prstGeom prst="rect">
            <a:avLst/>
          </a:prstGeom>
          <a:solidFill>
            <a:srgbClr val="EFF6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ADVISOR TIER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$10/mo per advisor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FFAU advisors from Day 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28600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59436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data, company analysis, portfolio views, AI tools, market wraps, financial plan generation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24688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54864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$60K ARR  |  Year 5: $1.8M ARR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37560" y="1005840"/>
            <a:ext cx="2651760" cy="329184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1887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PORTAL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7472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$5/mo per end client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74720" y="1965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advisors x 50 clients = 25,000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74720" y="228600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19"/>
          <p:cNvSpPr/>
          <p:nvPr/>
        </p:nvSpPr>
        <p:spPr>
          <a:xfrm>
            <a:off x="347472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dashboard, bank feeds, expenses, performance, tax estimates. White-labelled for advisor brand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429000" y="3657600"/>
            <a:ext cx="24688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Text 21"/>
          <p:cNvSpPr/>
          <p:nvPr/>
        </p:nvSpPr>
        <p:spPr>
          <a:xfrm>
            <a:off x="342900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$150K ARR  |  Year 5: $3.0M ARR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17920" y="1005840"/>
            <a:ext cx="2651760" cy="3291840"/>
          </a:xfrm>
          <a:prstGeom prst="rect">
            <a:avLst/>
          </a:prstGeom>
          <a:solidFill>
            <a:srgbClr val="FFFBE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3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8872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66560" y="1188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HNW WEALTH MANAGEMENT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$20K setup + $20K AUD p.a.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355080" y="1965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FFAU HNW + Endeavor 100 clients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355080" y="228600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28"/>
          <p:cNvSpPr/>
          <p:nvPr/>
        </p:nvSpPr>
        <p:spPr>
          <a:xfrm>
            <a:off x="635508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platform. Consolidated net wealth. Private holdings. API bank feeds. Dedicated support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309360" y="3657600"/>
            <a:ext cx="246888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Text 30"/>
          <p:cNvSpPr/>
          <p:nvPr/>
        </p:nvSpPr>
        <p:spPr>
          <a:xfrm>
            <a:off x="630936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$200K ARR  |  Year 5: $2.0M ARR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 YEAR 5: $6.8M ARR  |  $68M VALUATION AT 10x  |  + deal returns on top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projections. 10x ARR multiple. Excludes deal returns.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ADVISOR TIER  ($10/mo per advisor)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692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(10x)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57200" y="2331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PORTAL  ($5/mo per end client)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692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(10x)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HNW WEALTH MANAGEMENT  ($20K AUD setup + $20K AUD p.a.)</a:t>
            </a:r>
            <a:endParaRPr lang="en-US" sz="10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60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(10x)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 YEAR 5: $6.8M ARR  |  $68M VALUATION  |  + deal returns on top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54864" cy="510692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EFF6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60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GUARANTEED DISTRIBUTION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FFAU and Endeavor network to start. Low marketing spend to get global traction. This company needs to be a separate entity to EAM/FFAU to get the valuation.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solidFill>
            <a:srgbClr val="ECFDF5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64008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304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PLATFORM, MASSIVE SWITCHING COSTS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2697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advisors link their clients and clients see their full wealth in one place, they never leave. Every new client deepens the moat. AllWealth becomes the operating system for wealth.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BEB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2"/>
          <p:cNvSpPr/>
          <p:nvPr/>
        </p:nvSpPr>
        <p:spPr>
          <a:xfrm>
            <a:off x="457200" y="3566160"/>
            <a:ext cx="64008" cy="1188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675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D4A8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SELF-FUNDING, CAPITAL EFFICIENT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returns fund software development. AI-powered vibe coding collapses development costs by 90%+. One developer builds what used to take teams of 50. Personal capital invested alongside.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HOLDCO  |  hayden@laserbeamcapital.com  |  allwealth.com.au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6d0250-26e6-4018-96cc-9d4b267bf602">
      <Terms xmlns="http://schemas.microsoft.com/office/infopath/2007/PartnerControls"/>
    </lcf76f155ced4ddcb4097134ff3c332f>
    <TaxCatchAll xmlns="ba7ac31c-47df-4cec-a670-87c4a6b08e0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3564D6C4D0CB46BB0B3867B66CB08A" ma:contentTypeVersion="12" ma:contentTypeDescription="Create a new document." ma:contentTypeScope="" ma:versionID="5a62858961e03856a63c88c3b87eeee9">
  <xsd:schema xmlns:xsd="http://www.w3.org/2001/XMLSchema" xmlns:xs="http://www.w3.org/2001/XMLSchema" xmlns:p="http://schemas.microsoft.com/office/2006/metadata/properties" xmlns:ns2="cd6d0250-26e6-4018-96cc-9d4b267bf602" xmlns:ns3="ba7ac31c-47df-4cec-a670-87c4a6b08e03" targetNamespace="http://schemas.microsoft.com/office/2006/metadata/properties" ma:root="true" ma:fieldsID="628a9a629554cb0556c8de430bbdefc3" ns2:_="" ns3:_="">
    <xsd:import namespace="cd6d0250-26e6-4018-96cc-9d4b267bf602"/>
    <xsd:import namespace="ba7ac31c-47df-4cec-a670-87c4a6b08e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6d0250-26e6-4018-96cc-9d4b267bf6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36b254e-62ae-4d77-9234-28b9d25c5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7ac31c-47df-4cec-a670-87c4a6b08e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3b74265-7ca9-4846-a86d-599cc4d293c9}" ma:internalName="TaxCatchAll" ma:showField="CatchAllData" ma:web="ba7ac31c-47df-4cec-a670-87c4a6b08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E460EC-9CFD-4CAF-A28F-644C9958680C}">
  <ds:schemaRefs>
    <ds:schemaRef ds:uri="http://schemas.microsoft.com/office/2006/metadata/properties"/>
    <ds:schemaRef ds:uri="http://schemas.microsoft.com/office/infopath/2007/PartnerControls"/>
    <ds:schemaRef ds:uri="cd6d0250-26e6-4018-96cc-9d4b267bf602"/>
    <ds:schemaRef ds:uri="ba7ac31c-47df-4cec-a670-87c4a6b08e03"/>
  </ds:schemaRefs>
</ds:datastoreItem>
</file>

<file path=customXml/itemProps2.xml><?xml version="1.0" encoding="utf-8"?>
<ds:datastoreItem xmlns:ds="http://schemas.openxmlformats.org/officeDocument/2006/customXml" ds:itemID="{C00F873F-D617-4034-A1B3-2A3B2B5F3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A9A5F4-0880-4BF7-80D4-EBA9400776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6d0250-26e6-4018-96cc-9d4b267bf602"/>
    <ds:schemaRef ds:uri="ba7ac31c-47df-4cec-a670-87c4a6b08e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875</Words>
  <Application>Microsoft Office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HoldCo - AllWealth</dc:title>
  <dc:subject>PptxGenJS Presentation</dc:subject>
  <dc:creator>Hayden Beamish</dc:creator>
  <cp:lastModifiedBy>Hayden Beamish</cp:lastModifiedBy>
  <cp:revision>1</cp:revision>
  <dcterms:created xsi:type="dcterms:W3CDTF">2026-02-27T03:28:02Z</dcterms:created>
  <dcterms:modified xsi:type="dcterms:W3CDTF">2026-02-27T04:09:22Z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0x010100693564D6C4D0CB46BB0B3867B66CB08A</vt:lpwstr>
  </property>
</Properties>
</file>